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relevance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Software</c:v>
                </c:pt>
                <c:pt idx="1">
                  <c:v>Research</c:v>
                </c:pt>
                <c:pt idx="2">
                  <c:v>Automation</c:v>
                </c:pt>
                <c:pt idx="3">
                  <c:v>Support</c:v>
                </c:pt>
                <c:pt idx="4">
                  <c:v>Productivity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88</c:v>
                </c:pt>
                <c:pt idx="2">
                  <c:v>90</c:v>
                </c:pt>
                <c:pt idx="3">
                  <c:v>82</c:v>
                </c:pt>
                <c:pt idx="4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640080"/>
            <a:ext cx="4297680" cy="42976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389120"/>
            <a:ext cx="2377440" cy="2377440"/>
          </a:xfrm>
          <a:prstGeom prst="ellipse">
            <a:avLst/>
          </a:prstGeom>
          <a:solidFill>
            <a:srgbClr val="46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</a:defRPr>
            </a:pPr>
            <a:r>
              <a:t>From prompts to purposeful action</a:t>
            </a:r>
          </a:p>
          <a:p>
            <a:pPr>
              <a:defRPr sz="1300">
                <a:solidFill>
                  <a:srgbClr val="BECDE1"/>
                </a:solidFill>
              </a:defRPr>
            </a:pPr>
            <a:r>
              <a:t>Refined 5-slide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78"/>
                </a:solidFill>
              </a:defRPr>
            </a:pPr>
            <a:r>
              <a:t>01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</a:defRPr>
            </a:pPr>
            <a:r>
              <a:t>01 —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8"/>
                </a:solidFill>
              </a:defRPr>
            </a:pPr>
            <a:r>
              <a:t>What makes AI “agentic”?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038"/>
                </a:solidFill>
              </a:defRPr>
            </a:pPr>
            <a:r>
              <a:t>• Goal-oriented: works toward an outcome, not just a one-off response.</a:t>
            </a:r>
          </a:p>
          <a:p>
            <a:pPr>
              <a:spcAft>
                <a:spcPts val="1000"/>
              </a:spcAft>
              <a:defRPr sz="1800">
                <a:solidFill>
                  <a:srgbClr val="142038"/>
                </a:solidFill>
              </a:defRPr>
            </a:pPr>
            <a:r>
              <a:t>• Multi-step: breaks complex requests into smaller tasks.</a:t>
            </a:r>
          </a:p>
          <a:p>
            <a:pPr>
              <a:spcAft>
                <a:spcPts val="1000"/>
              </a:spcAft>
              <a:defRPr sz="1800">
                <a:solidFill>
                  <a:srgbClr val="142038"/>
                </a:solidFill>
              </a:defRPr>
            </a:pPr>
            <a:r>
              <a:t>• Tool-enabled: can use APIs, databases, code, search, and business systems.</a:t>
            </a:r>
          </a:p>
          <a:p>
            <a:pPr>
              <a:spcAft>
                <a:spcPts val="1000"/>
              </a:spcAft>
              <a:defRPr sz="1800">
                <a:solidFill>
                  <a:srgbClr val="142038"/>
                </a:solidFill>
              </a:defRPr>
            </a:pPr>
            <a:r>
              <a:t>• Adaptive: evaluates results and changes the next step when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64592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75320" y="1965960"/>
            <a:ext cx="2377440" cy="438912"/>
          </a:xfrm>
          <a:prstGeom prst="roundRect">
            <a:avLst/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038"/>
                </a:solidFill>
              </a:defRPr>
            </a:pPr>
            <a:r>
              <a:t>GOAL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2624328"/>
            <a:ext cx="2377440" cy="438912"/>
          </a:xfrm>
          <a:prstGeom prst="roundRect">
            <a:avLst/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038"/>
                </a:solidFill>
              </a:defRPr>
            </a:pPr>
            <a: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3282696"/>
            <a:ext cx="2377440" cy="438912"/>
          </a:xfrm>
          <a:prstGeom prst="roundRect">
            <a:avLst/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038"/>
                </a:solidFill>
              </a:defRPr>
            </a:pPr>
            <a:r>
              <a:t>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941064"/>
            <a:ext cx="2377440" cy="438912"/>
          </a:xfrm>
          <a:prstGeom prst="roundRect">
            <a:avLst/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038"/>
                </a:solidFill>
              </a:defRPr>
            </a:pPr>
            <a:r>
              <a:t>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78"/>
                </a:solidFill>
              </a:defRPr>
            </a:pPr>
            <a:r>
              <a:t>02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</a:defRPr>
            </a:pPr>
            <a:r>
              <a:t>02 —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8"/>
                </a:solidFill>
              </a:defRPr>
            </a:pPr>
            <a:r>
              <a:t>How an agent completes a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2331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011680"/>
            <a:ext cx="530352" cy="53035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038"/>
                </a:solidFill>
              </a:defRPr>
            </a:pPr>
            <a: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1920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678"/>
                </a:solidFill>
              </a:defRPr>
            </a:pPr>
            <a:r>
              <a:t>Interpret the goal, context and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331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2011680"/>
            <a:ext cx="530352" cy="53035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432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038"/>
                </a:solidFill>
              </a:defRPr>
            </a:pPr>
            <a: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37560"/>
            <a:ext cx="1920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678"/>
                </a:solidFill>
              </a:defRPr>
            </a:pPr>
            <a:r>
              <a:t>Choose a sequence of actions and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2331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2011680"/>
            <a:ext cx="530352" cy="53035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038"/>
                </a:solidFill>
              </a:defRPr>
            </a:pPr>
            <a:r>
              <a:t>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37560"/>
            <a:ext cx="1920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678"/>
                </a:solidFill>
              </a:defRPr>
            </a:pPr>
            <a:r>
              <a:t>Use tools, create outputs and perform 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737360"/>
            <a:ext cx="2331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39" y="2011680"/>
            <a:ext cx="530352" cy="53035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39" y="27432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038"/>
                </a:solidFill>
              </a:defRPr>
            </a:pPr>
            <a: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39" y="3337560"/>
            <a:ext cx="1920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678"/>
                </a:solidFill>
              </a:defRPr>
            </a:pPr>
            <a:r>
              <a:t>Check results, recover from errors and continue.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78"/>
                </a:solidFill>
              </a:defRPr>
            </a:pPr>
            <a:r>
              <a:t>03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</a:defRPr>
            </a:pPr>
            <a:r>
              <a:t>03 —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8"/>
                </a:solidFill>
              </a:defRPr>
            </a:pPr>
            <a:r>
              <a:t>Where agentic AI can create value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554480"/>
          <a:ext cx="749807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0" y="1828800"/>
            <a:ext cx="2468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285F4"/>
                </a:solidFill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defRPr sz="1400">
                <a:solidFill>
                  <a:srgbClr val="142038"/>
                </a:solidFill>
              </a:defRPr>
            </a:pPr>
            <a:r>
              <a:t>Agents are most useful when work involves multiple decisions, tools and feedback loops.</a:t>
            </a:r>
          </a:p>
          <a:p>
            <a:pPr>
              <a:spcBef>
                <a:spcPts val="1400"/>
              </a:spcBef>
              <a:defRPr sz="900">
                <a:solidFill>
                  <a:srgbClr val="5B6678"/>
                </a:solidFill>
              </a:defRPr>
            </a:pPr>
            <a:r>
              <a:t>Illustrative scores only — not measured industry statistics.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78"/>
                </a:solidFill>
              </a:defRPr>
            </a:pPr>
            <a:r>
              <a:t>04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BEC8"/>
                </a:solidFill>
              </a:defRPr>
            </a:pPr>
            <a:r>
              <a:t>04 —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Benefits, risks &amp; the path forward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37560" cy="3474720"/>
          </a:xfrm>
          <a:prstGeom prst="roundRect">
            <a:avLst/>
          </a:prstGeom>
          <a:solidFill>
            <a:srgbClr val="1F2D48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BEC8"/>
                </a:solidFill>
              </a:defRPr>
            </a:pPr>
            <a:r>
              <a:t>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Automates multi-step work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Speeds research and delivery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Adapts to intermediate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3337560" cy="3474720"/>
          </a:xfrm>
          <a:prstGeom prst="roundRect">
            <a:avLst/>
          </a:prstGeom>
          <a:solidFill>
            <a:srgbClr val="1F2D48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BEC8"/>
                </a:solidFill>
              </a:defRPr>
            </a:pPr>
            <a:r>
              <a:t>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4231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Wrong or unreliable actions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Security and privacy exposure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Excessive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645920"/>
            <a:ext cx="3337560" cy="3474720"/>
          </a:xfrm>
          <a:prstGeom prst="roundRect">
            <a:avLst/>
          </a:prstGeom>
          <a:solidFill>
            <a:srgbClr val="1F2D48"/>
          </a:solidFill>
          <a:ln>
            <a:solidFill>
              <a:srgbClr val="46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920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BEC8"/>
                </a:solidFill>
              </a:defRPr>
            </a:pPr>
            <a:r>
              <a:t>BEST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4231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Set clear goals and boundaries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Limit tool access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Test, monitor and keep human oversight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Agentic AI shifts AI from generating answers toward completing goals through controlled 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78"/>
                </a:solidFill>
              </a:defRPr>
            </a:pPr>
            <a:r>
              <a:t>05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